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305" r:id="rId3"/>
    <p:sldId id="2831" r:id="rId5"/>
    <p:sldId id="2832" r:id="rId6"/>
    <p:sldId id="2817" r:id="rId7"/>
    <p:sldId id="2830" r:id="rId8"/>
    <p:sldId id="2761" r:id="rId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3" userDrawn="1">
          <p15:clr>
            <a:srgbClr val="A4A3A4"/>
          </p15:clr>
        </p15:guide>
        <p15:guide id="2" pos="30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r Adachi" initials="MA" lastIdx="1" clrIdx="0"/>
  <p:cmAuthor id="1" name="Andi Gilang" initials="AG" lastIdx="2" clrIdx="0"/>
  <p:cmAuthor id="2" name="nidiarnaufal@gmail.com" initials="n" lastIdx="1" clrIdx="1"/>
  <p:cmAuthor id="3" name="028-NB-TBN" initials="0" lastIdx="2" clrIdx="2"/>
  <p:cmAuthor id="4" name="Dian Antony" initials="DA" lastIdx="1" clrIdx="3"/>
  <p:cmAuthor id="5" name="022-CPU-TBN_2" initials="0" lastIdx="1" clrIdx="4"/>
  <p:cmAuthor id="6" name="hari laksono" initials="hl" lastIdx="1" clrIdx="5"/>
  <p:cmAuthor id="7" name="188-TBN" initials="1" lastIdx="1" clrIdx="6"/>
  <p:cmAuthor id="8" name="189-CPU-TBN" initials="1" lastIdx="1" clrIdx="7"/>
  <p:cmAuthor id="9" name="159-CPU-TBN_2" initials="1" lastIdx="1" clrIdx="8"/>
  <p:cmAuthor id="11" name="187-CPU-TBN1" initials="1" lastIdx="0" clrIdx="10"/>
  <p:cmAuthor id="12" name="Author" initials="A" lastIdx="0" clrIdx="11"/>
  <p:cmAuthor id="13" name="UNrev1945" initials="U" lastIdx="0" clrIdx="12"/>
  <p:cmAuthor id="14" name="IT" initials="I" lastIdx="0" clrIdx="13"/>
  <p:cmAuthor id="15" name="87-NB-TBN" initials="8" lastIdx="0" clrIdx="14"/>
  <p:cmAuthor id="16" name="RND TECHNICAL" initials="R" lastIdx="0" clrIdx="15"/>
  <p:cmAuthor id="17" name="Ibnu Kusuma" initials="IK" lastIdx="0" clrIdx="16"/>
  <p:cmAuthor id="18" name="MAJ-EG-002" initials="M" lastIdx="0" clrIdx="17"/>
  <p:cmAuthor id="19" name="MAJ" initials="M" lastIdx="0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C"/>
    <a:srgbClr val="FFFFFF"/>
    <a:srgbClr val="0711E9"/>
    <a:srgbClr val="DEEBF7"/>
    <a:srgbClr val="1E8449"/>
    <a:srgbClr val="2F3C7E"/>
    <a:srgbClr val="5B9BD5"/>
    <a:srgbClr val="FF5757"/>
    <a:srgbClr val="9DC3E6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5501" autoAdjust="0"/>
  </p:normalViewPr>
  <p:slideViewPr>
    <p:cSldViewPr snapToGrid="0" showGuides="1">
      <p:cViewPr varScale="1">
        <p:scale>
          <a:sx n="111" d="100"/>
          <a:sy n="111" d="100"/>
        </p:scale>
        <p:origin x="1602" y="102"/>
      </p:cViewPr>
      <p:guideLst>
        <p:guide orient="horz" pos="2353"/>
        <p:guide pos="308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FF666-4F56-4DB7-8AEE-CD17BA201039}" type="datetimeFigureOut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72887-8B41-4A5C-9199-0763FDB0C314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29962-C018-4279-8311-E426E694CCC8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1pPr>
    <a:lvl2pPr marL="70421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2pPr>
    <a:lvl3pPr marL="140843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3pPr>
    <a:lvl4pPr marL="211264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4pPr>
    <a:lvl5pPr marL="281686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5pPr>
    <a:lvl6pPr marL="352107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6pPr>
    <a:lvl7pPr marL="422592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7pPr>
    <a:lvl8pPr marL="493014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8pPr>
    <a:lvl9pPr marL="563435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4968875" y="1252538"/>
            <a:ext cx="4511675" cy="3382962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tutorial to use the website (user manual) and added </a:t>
            </a:r>
            <a:r>
              <a:rPr lang="en-US" dirty="0" err="1"/>
              <a:t>ttd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persetujuan</a:t>
            </a:r>
            <a:r>
              <a:rPr lang="en-US" baseline="0" dirty="0"/>
              <a:t> assignment from </a:t>
            </a:r>
            <a:r>
              <a:rPr lang="en-US" baseline="0" dirty="0" err="1"/>
              <a:t>atasan</a:t>
            </a:r>
            <a:r>
              <a:rPr lang="en-US" baseline="0" dirty="0"/>
              <a:t> like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rohman</a:t>
            </a:r>
            <a:r>
              <a:rPr lang="en-US" baseline="0" dirty="0"/>
              <a:t>,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dody</a:t>
            </a:r>
            <a:r>
              <a:rPr lang="en-US" baseline="0" dirty="0"/>
              <a:t>,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rudy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338459" y="-4329094"/>
            <a:ext cx="476489" cy="9134666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56205"/>
            <a:ext cx="1715617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47" y="48484"/>
            <a:ext cx="1394456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16483" y="3176006"/>
            <a:ext cx="134718" cy="7279551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277202" y="-3395796"/>
            <a:ext cx="598851" cy="7268067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6205"/>
            <a:ext cx="1715588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528" y="48484"/>
            <a:ext cx="1394433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338459" y="-4329094"/>
            <a:ext cx="476489" cy="9134666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56205"/>
            <a:ext cx="1715617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47" y="48484"/>
            <a:ext cx="1394456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2612" y="-1"/>
            <a:ext cx="9144869" cy="6858001"/>
            <a:chOff x="-15876" y="-1"/>
            <a:chExt cx="9994902" cy="572452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8" name="Rectangle 7"/>
            <p:cNvSpPr/>
            <p:nvPr userDrawn="1"/>
          </p:nvSpPr>
          <p:spPr>
            <a:xfrm flipH="1">
              <a:off x="4981575" y="-1"/>
              <a:ext cx="4997451" cy="5724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-15876" y="0"/>
              <a:ext cx="4997451" cy="5724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+mn-cs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5400000">
            <a:off x="4370464" y="-4155611"/>
            <a:ext cx="429167" cy="8892881"/>
            <a:chOff x="924330" y="147757"/>
            <a:chExt cx="751914" cy="6290464"/>
          </a:xfrm>
        </p:grpSpPr>
        <p:sp>
          <p:nvSpPr>
            <p:cNvPr id="11" name="Rectangle 10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 rot="16200000" flipV="1">
              <a:off x="-1528266" y="3250964"/>
              <a:ext cx="6290463" cy="84051"/>
            </a:xfrm>
            <a:prstGeom prst="rect">
              <a:avLst/>
            </a:prstGeom>
            <a:solidFill>
              <a:srgbClr val="001B63"/>
            </a:solidFill>
            <a:ln>
              <a:solidFill>
                <a:srgbClr val="001B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Freeform 12"/>
          <p:cNvSpPr/>
          <p:nvPr userDrawn="1"/>
        </p:nvSpPr>
        <p:spPr>
          <a:xfrm>
            <a:off x="8681653" y="76206"/>
            <a:ext cx="365378" cy="429866"/>
          </a:xfrm>
          <a:custGeom>
            <a:avLst/>
            <a:gdLst>
              <a:gd name="connsiteX0" fmla="*/ 4092787 w 4105274"/>
              <a:gd name="connsiteY0" fmla="*/ 2757641 h 6857999"/>
              <a:gd name="connsiteX1" fmla="*/ 4074233 w 4105274"/>
              <a:gd name="connsiteY1" fmla="*/ 6855184 h 6857999"/>
              <a:gd name="connsiteX2" fmla="*/ 3284114 w 4105274"/>
              <a:gd name="connsiteY2" fmla="*/ 6857999 h 6857999"/>
              <a:gd name="connsiteX3" fmla="*/ 2654899 w 4105274"/>
              <a:gd name="connsiteY3" fmla="*/ 3845400 h 6857999"/>
              <a:gd name="connsiteX4" fmla="*/ 2485954 w 4105274"/>
              <a:gd name="connsiteY4" fmla="*/ 3422394 h 6857999"/>
              <a:gd name="connsiteX5" fmla="*/ 4093347 w 4105274"/>
              <a:gd name="connsiteY5" fmla="*/ 2633875 h 6857999"/>
              <a:gd name="connsiteX6" fmla="*/ 4092875 w 4105274"/>
              <a:gd name="connsiteY6" fmla="*/ 2738125 h 6857999"/>
              <a:gd name="connsiteX7" fmla="*/ 2479277 w 4105274"/>
              <a:gd name="connsiteY7" fmla="*/ 3405677 h 6857999"/>
              <a:gd name="connsiteX8" fmla="*/ 2443611 w 4105274"/>
              <a:gd name="connsiteY8" fmla="*/ 3316377 h 6857999"/>
              <a:gd name="connsiteX9" fmla="*/ 4095540 w 4105274"/>
              <a:gd name="connsiteY9" fmla="*/ 2149531 h 6857999"/>
              <a:gd name="connsiteX10" fmla="*/ 4093435 w 4105274"/>
              <a:gd name="connsiteY10" fmla="*/ 2614359 h 6857999"/>
              <a:gd name="connsiteX11" fmla="*/ 2436449 w 4105274"/>
              <a:gd name="connsiteY11" fmla="*/ 3299861 h 6857999"/>
              <a:gd name="connsiteX12" fmla="*/ 2298463 w 4105274"/>
              <a:gd name="connsiteY12" fmla="*/ 2992176 h 6857999"/>
              <a:gd name="connsiteX13" fmla="*/ 2258382 w 4105274"/>
              <a:gd name="connsiteY13" fmla="*/ 2909570 h 6857999"/>
              <a:gd name="connsiteX14" fmla="*/ 4101349 w 4105274"/>
              <a:gd name="connsiteY14" fmla="*/ 866653 h 6857999"/>
              <a:gd name="connsiteX15" fmla="*/ 4095628 w 4105274"/>
              <a:gd name="connsiteY15" fmla="*/ 2130015 h 6857999"/>
              <a:gd name="connsiteX16" fmla="*/ 2250510 w 4105274"/>
              <a:gd name="connsiteY16" fmla="*/ 2893347 h 6857999"/>
              <a:gd name="connsiteX17" fmla="*/ 2158526 w 4105274"/>
              <a:gd name="connsiteY17" fmla="*/ 2703772 h 6857999"/>
              <a:gd name="connsiteX18" fmla="*/ 1884343 w 4105274"/>
              <a:gd name="connsiteY18" fmla="*/ 2193202 h 6857999"/>
              <a:gd name="connsiteX19" fmla="*/ 1685501 w 4105274"/>
              <a:gd name="connsiteY19" fmla="*/ 1866098 h 6857999"/>
              <a:gd name="connsiteX20" fmla="*/ 0 w 4105274"/>
              <a:gd name="connsiteY20" fmla="*/ 0 h 6857999"/>
              <a:gd name="connsiteX21" fmla="*/ 4105274 w 4105274"/>
              <a:gd name="connsiteY21" fmla="*/ 0 h 6857999"/>
              <a:gd name="connsiteX22" fmla="*/ 4101438 w 4105274"/>
              <a:gd name="connsiteY22" fmla="*/ 847136 h 6857999"/>
              <a:gd name="connsiteX23" fmla="*/ 1676040 w 4105274"/>
              <a:gd name="connsiteY23" fmla="*/ 1850533 h 6857999"/>
              <a:gd name="connsiteX24" fmla="*/ 1599705 w 4105274"/>
              <a:gd name="connsiteY24" fmla="*/ 1724959 h 6857999"/>
              <a:gd name="connsiteX25" fmla="*/ 0 w 4105274"/>
              <a:gd name="connsiteY2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05274" h="6857999">
                <a:moveTo>
                  <a:pt x="4092787" y="2757641"/>
                </a:moveTo>
                <a:lnTo>
                  <a:pt x="4074233" y="6855184"/>
                </a:lnTo>
                <a:lnTo>
                  <a:pt x="3284114" y="6857999"/>
                </a:lnTo>
                <a:cubicBezTo>
                  <a:pt x="3232587" y="5780610"/>
                  <a:pt x="2992209" y="4758114"/>
                  <a:pt x="2654899" y="3845400"/>
                </a:cubicBezTo>
                <a:lnTo>
                  <a:pt x="2485954" y="3422394"/>
                </a:lnTo>
                <a:close/>
                <a:moveTo>
                  <a:pt x="4093347" y="2633875"/>
                </a:moveTo>
                <a:lnTo>
                  <a:pt x="4092875" y="2738125"/>
                </a:lnTo>
                <a:lnTo>
                  <a:pt x="2479277" y="3405677"/>
                </a:lnTo>
                <a:lnTo>
                  <a:pt x="2443611" y="3316377"/>
                </a:lnTo>
                <a:close/>
                <a:moveTo>
                  <a:pt x="4095540" y="2149531"/>
                </a:moveTo>
                <a:lnTo>
                  <a:pt x="4093435" y="2614359"/>
                </a:lnTo>
                <a:lnTo>
                  <a:pt x="2436449" y="3299861"/>
                </a:lnTo>
                <a:lnTo>
                  <a:pt x="2298463" y="2992176"/>
                </a:lnTo>
                <a:lnTo>
                  <a:pt x="2258382" y="2909570"/>
                </a:lnTo>
                <a:close/>
                <a:moveTo>
                  <a:pt x="4101349" y="866653"/>
                </a:moveTo>
                <a:lnTo>
                  <a:pt x="4095628" y="2130015"/>
                </a:lnTo>
                <a:lnTo>
                  <a:pt x="2250510" y="2893347"/>
                </a:lnTo>
                <a:lnTo>
                  <a:pt x="2158526" y="2703772"/>
                </a:lnTo>
                <a:cubicBezTo>
                  <a:pt x="2069524" y="2526916"/>
                  <a:pt x="1977804" y="2356532"/>
                  <a:pt x="1884343" y="2193202"/>
                </a:cubicBezTo>
                <a:lnTo>
                  <a:pt x="1685501" y="1866098"/>
                </a:lnTo>
                <a:close/>
                <a:moveTo>
                  <a:pt x="0" y="0"/>
                </a:moveTo>
                <a:lnTo>
                  <a:pt x="4105274" y="0"/>
                </a:lnTo>
                <a:lnTo>
                  <a:pt x="4101438" y="847136"/>
                </a:lnTo>
                <a:lnTo>
                  <a:pt x="1676040" y="1850533"/>
                </a:lnTo>
                <a:lnTo>
                  <a:pt x="1599705" y="1724959"/>
                </a:lnTo>
                <a:cubicBezTo>
                  <a:pt x="1023877" y="833127"/>
                  <a:pt x="420433" y="216217"/>
                  <a:pt x="0" y="0"/>
                </a:cubicBezTo>
                <a:close/>
              </a:path>
            </a:pathLst>
          </a:custGeom>
          <a:gradFill>
            <a:gsLst>
              <a:gs pos="15000">
                <a:srgbClr val="8D0505"/>
              </a:gs>
              <a:gs pos="53000">
                <a:srgbClr val="FF0000"/>
              </a:gs>
              <a:gs pos="85000">
                <a:srgbClr val="960202"/>
              </a:gs>
              <a:gs pos="0">
                <a:srgbClr val="540605"/>
              </a:gs>
              <a:gs pos="100000">
                <a:srgbClr val="280201"/>
              </a:gs>
            </a:gsLst>
            <a:lin ang="5400000" scaled="1"/>
          </a:gradFill>
          <a:ln>
            <a:noFill/>
          </a:ln>
          <a:effectLst>
            <a:outerShdw blurRad="127000" dist="1270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65"/>
          </a:p>
        </p:txBody>
      </p:sp>
      <p:sp>
        <p:nvSpPr>
          <p:cNvPr id="14" name="Freeform 13"/>
          <p:cNvSpPr/>
          <p:nvPr userDrawn="1"/>
        </p:nvSpPr>
        <p:spPr>
          <a:xfrm rot="5400000">
            <a:off x="8425259" y="-116448"/>
            <a:ext cx="429165" cy="814553"/>
          </a:xfrm>
          <a:custGeom>
            <a:avLst/>
            <a:gdLst>
              <a:gd name="connsiteX0" fmla="*/ 4736742 w 4736742"/>
              <a:gd name="connsiteY0" fmla="*/ 1698078 h 2886075"/>
              <a:gd name="connsiteX1" fmla="*/ 4736742 w 4736742"/>
              <a:gd name="connsiteY1" fmla="*/ 2886075 h 2886075"/>
              <a:gd name="connsiteX2" fmla="*/ 4069174 w 4736742"/>
              <a:gd name="connsiteY2" fmla="*/ 1987660 h 2886075"/>
              <a:gd name="connsiteX3" fmla="*/ 4059289 w 4736742"/>
              <a:gd name="connsiteY3" fmla="*/ 1978343 h 2886075"/>
              <a:gd name="connsiteX4" fmla="*/ 4736742 w 4736742"/>
              <a:gd name="connsiteY4" fmla="*/ 422613 h 2886075"/>
              <a:gd name="connsiteX5" fmla="*/ 4736742 w 4736742"/>
              <a:gd name="connsiteY5" fmla="*/ 1678599 h 2886075"/>
              <a:gd name="connsiteX6" fmla="*/ 4044926 w 4736742"/>
              <a:gd name="connsiteY6" fmla="*/ 1964806 h 2886075"/>
              <a:gd name="connsiteX7" fmla="*/ 3841848 w 4736742"/>
              <a:gd name="connsiteY7" fmla="*/ 1773396 h 2886075"/>
              <a:gd name="connsiteX8" fmla="*/ 3143118 w 4736742"/>
              <a:gd name="connsiteY8" fmla="*/ 1229700 h 2886075"/>
              <a:gd name="connsiteX9" fmla="*/ 3001687 w 4736742"/>
              <a:gd name="connsiteY9" fmla="*/ 1140412 h 2886075"/>
              <a:gd name="connsiteX10" fmla="*/ 0 w 4736742"/>
              <a:gd name="connsiteY10" fmla="*/ 0 h 2886075"/>
              <a:gd name="connsiteX11" fmla="*/ 4736742 w 4736742"/>
              <a:gd name="connsiteY11" fmla="*/ 0 h 2886075"/>
              <a:gd name="connsiteX12" fmla="*/ 4736742 w 4736742"/>
              <a:gd name="connsiteY12" fmla="*/ 403133 h 2886075"/>
              <a:gd name="connsiteX13" fmla="*/ 2983047 w 4736742"/>
              <a:gd name="connsiteY13" fmla="*/ 1128644 h 2886075"/>
              <a:gd name="connsiteX14" fmla="*/ 2725801 w 4736742"/>
              <a:gd name="connsiteY14" fmla="*/ 966239 h 2886075"/>
              <a:gd name="connsiteX15" fmla="*/ 0 w 4736742"/>
              <a:gd name="connsiteY15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6742" h="2886075">
                <a:moveTo>
                  <a:pt x="4736742" y="1698078"/>
                </a:moveTo>
                <a:lnTo>
                  <a:pt x="4736742" y="2886075"/>
                </a:lnTo>
                <a:cubicBezTo>
                  <a:pt x="4648812" y="2663134"/>
                  <a:pt x="4422708" y="2339912"/>
                  <a:pt x="4069174" y="1987660"/>
                </a:cubicBezTo>
                <a:lnTo>
                  <a:pt x="4059289" y="1978343"/>
                </a:lnTo>
                <a:close/>
                <a:moveTo>
                  <a:pt x="4736742" y="422613"/>
                </a:moveTo>
                <a:lnTo>
                  <a:pt x="4736742" y="1678599"/>
                </a:lnTo>
                <a:lnTo>
                  <a:pt x="4044926" y="1964806"/>
                </a:lnTo>
                <a:lnTo>
                  <a:pt x="3841848" y="1773396"/>
                </a:lnTo>
                <a:cubicBezTo>
                  <a:pt x="3639810" y="1592890"/>
                  <a:pt x="3406452" y="1408689"/>
                  <a:pt x="3143118" y="1229700"/>
                </a:cubicBezTo>
                <a:lnTo>
                  <a:pt x="3001687" y="1140412"/>
                </a:lnTo>
                <a:close/>
                <a:moveTo>
                  <a:pt x="0" y="0"/>
                </a:moveTo>
                <a:lnTo>
                  <a:pt x="4736742" y="0"/>
                </a:lnTo>
                <a:lnTo>
                  <a:pt x="4736742" y="403133"/>
                </a:lnTo>
                <a:lnTo>
                  <a:pt x="2983047" y="1128644"/>
                </a:lnTo>
                <a:lnTo>
                  <a:pt x="2725801" y="966239"/>
                </a:lnTo>
                <a:cubicBezTo>
                  <a:pt x="1993362" y="537363"/>
                  <a:pt x="1077766" y="168895"/>
                  <a:pt x="0" y="0"/>
                </a:cubicBezTo>
                <a:close/>
              </a:path>
            </a:pathLst>
          </a:custGeom>
          <a:gradFill>
            <a:gsLst>
              <a:gs pos="77000">
                <a:srgbClr val="00175D"/>
              </a:gs>
              <a:gs pos="0">
                <a:srgbClr val="045CBD"/>
              </a:gs>
              <a:gs pos="100000">
                <a:srgbClr val="000F52"/>
              </a:gs>
            </a:gsLst>
            <a:lin ang="5400000" scaled="1"/>
          </a:gradFill>
          <a:ln>
            <a:noFill/>
          </a:ln>
          <a:effectLst>
            <a:outerShdw blurRad="127000" dist="127000" dir="10800000" algn="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65"/>
          </a:p>
        </p:txBody>
      </p:sp>
      <p:grpSp>
        <p:nvGrpSpPr>
          <p:cNvPr id="15" name="Group 14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16" name="Freeform 15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7" name="Freeform 16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8" name="Freeform 17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9" name="Freeform 18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7" r="10717"/>
          <a:stretch>
            <a:fillRect/>
          </a:stretch>
        </p:blipFill>
        <p:spPr>
          <a:xfrm>
            <a:off x="678" y="196195"/>
            <a:ext cx="6585615" cy="64650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44226" y="196098"/>
            <a:ext cx="6599190" cy="6465067"/>
          </a:xfrm>
          <a:prstGeom prst="rect">
            <a:avLst/>
          </a:prstGeom>
          <a:gradFill>
            <a:gsLst>
              <a:gs pos="78000">
                <a:srgbClr val="49586D"/>
              </a:gs>
              <a:gs pos="60000">
                <a:srgbClr val="586576"/>
              </a:gs>
              <a:gs pos="20000">
                <a:srgbClr val="9A9C9E">
                  <a:alpha val="90000"/>
                </a:srgbClr>
              </a:gs>
              <a:gs pos="0">
                <a:schemeClr val="bg1">
                  <a:lumMod val="65000"/>
                  <a:alpha val="0"/>
                </a:schemeClr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54635">
              <a:defRPr/>
            </a:pPr>
            <a:endParaRPr lang="en-US" sz="1565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8285" y="276017"/>
            <a:ext cx="3935730" cy="839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itle 1"/>
          <p:cNvSpPr txBox="1"/>
          <p:nvPr/>
        </p:nvSpPr>
        <p:spPr>
          <a:xfrm>
            <a:off x="2340504" y="2098356"/>
            <a:ext cx="6474841" cy="20780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552450">
              <a:defRPr/>
            </a:pPr>
            <a:r>
              <a:rPr lang="en-US" sz="4145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Arial Black" panose="020B0A04020102020204" pitchFamily="34" charset="0"/>
                <a:sym typeface="+mn-ea"/>
              </a:rPr>
              <a:t>MDFO ANALYSIS</a:t>
            </a:r>
            <a:br>
              <a:rPr lang="en-US" sz="4145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Arial Black" panose="020B0A04020102020204" pitchFamily="34" charset="0"/>
                <a:sym typeface="+mn-ea"/>
              </a:rPr>
            </a:br>
            <a:endParaRPr lang="id-ID" altLang="en-US" sz="226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58000" dir="5400000" sy="-100000" algn="bl" rotWithShape="0"/>
              </a:effectLst>
              <a:latin typeface="Arial Black" panose="020B0A04020102020204" pitchFamily="34" charset="0"/>
              <a:sym typeface="+mn-ea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3730211" y="4647095"/>
            <a:ext cx="4477067" cy="712064"/>
          </a:xfrm>
          <a:prstGeom prst="rect">
            <a:avLst/>
          </a:prstGeom>
        </p:spPr>
        <p:txBody>
          <a:bodyPr vert="horz" lIns="79591" tIns="39796" rIns="79591" bIns="39796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82905">
              <a:spcBef>
                <a:spcPts val="420"/>
              </a:spcBef>
              <a:defRPr/>
            </a:pPr>
            <a:r>
              <a:rPr lang="en-US" sz="2175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Bookman Old Style" panose="02050604050505020204" charset="0"/>
                <a:ea typeface="Lato" panose="020F0502020204030203" pitchFamily="34" charset="0"/>
                <a:cs typeface="Bookman Old Style" panose="02050604050505020204" charset="0"/>
              </a:rPr>
              <a:t>PT. MEKAR ARMADA JAYA TAMBUN</a:t>
            </a:r>
            <a:endParaRPr lang="en-US" sz="2175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Bookman Old Style" panose="02050604050505020204" charset="0"/>
              <a:ea typeface="Lato" panose="020F0502020204030203" pitchFamily="3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10259999" y="90000"/>
            <a:ext cx="360000" cy="360000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id-ID" b="1">
                <a:solidFill>
                  <a:schemeClr val="bg1"/>
                </a:solidFill>
                <a:latin typeface="Bahnschrift" panose="020B0502040204020203" pitchFamily="34" charset="0"/>
              </a:rPr>
            </a:fld>
            <a:endParaRPr lang="id-ID" b="1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0983456" y="1187593"/>
            <a:ext cx="1663751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—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416095" y="542489"/>
            <a:ext cx="460866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 TOP 10 ACCUMULATION TERTINGGI  (SALES ORDER &gt;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0790072" y="2110245"/>
            <a:ext cx="419283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GAP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Catatan: prioritaskan tindak lanjut pada TOP 10 GAP TERTINGGI — order berpotensi melebihi kapasitas rencana.</a:t>
            </a:r>
            <a:endParaRPr lang="en-US" sz="1050" dirty="0">
              <a:latin typeface="Bahnschrift" panose="020B0502040204020203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10885951" y="2401881"/>
          <a:ext cx="4135673" cy="3679770"/>
        </p:xfrm>
        <a:graphic>
          <a:graphicData uri="http://schemas.openxmlformats.org/drawingml/2006/table">
            <a:tbl>
              <a:tblPr/>
              <a:tblGrid>
                <a:gridCol w="390617"/>
                <a:gridCol w="1501979"/>
                <a:gridCol w="771058"/>
                <a:gridCol w="806106"/>
                <a:gridCol w="665913"/>
              </a:tblGrid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| Model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42" name="Text 14"/>
          <p:cNvSpPr/>
          <p:nvPr/>
        </p:nvSpPr>
        <p:spPr>
          <a:xfrm>
            <a:off x="513923" y="3648453"/>
            <a:ext cx="46200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ACCUMULATION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13921" y="796033"/>
          <a:ext cx="8243997" cy="2758440"/>
        </p:xfrm>
        <a:graphic>
          <a:graphicData uri="http://schemas.openxmlformats.org/drawingml/2006/table">
            <a:tbl>
              <a:tblPr/>
              <a:tblGrid>
                <a:gridCol w="396778"/>
                <a:gridCol w="1422700"/>
                <a:gridCol w="1422700"/>
                <a:gridCol w="1422700"/>
                <a:gridCol w="1422700"/>
                <a:gridCol w="741269"/>
                <a:gridCol w="774963"/>
                <a:gridCol w="640187"/>
              </a:tblGrid>
              <a:tr h="361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MODEL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ROUTE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JOB NUMBER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ACCUM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DPM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S/A - IFPD</a:t>
                      </a: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ATDJ3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2.765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3.300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535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HMMI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KS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S/A - IFPD</a:t>
                      </a: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71510-I6500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321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TMMIN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D26A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WSS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T013 / 3995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2.875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3.150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275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HMMI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KS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S/A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71520-I6500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450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199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HPM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2MD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-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17215-5EAA-K00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180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D74A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S/A –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AA-3407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378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162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S/A –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GK-0091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135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MGL –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GK-0016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4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WSS –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GT-1555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465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ISI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SP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-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59211-61J02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</a:t>
                      </a: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7200674" y="533345"/>
            <a:ext cx="3272862" cy="2743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1-7 AGUSTUS 2026 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13921" y="3894576"/>
          <a:ext cx="8243997" cy="2758440"/>
        </p:xfrm>
        <a:graphic>
          <a:graphicData uri="http://schemas.openxmlformats.org/drawingml/2006/table">
            <a:tbl>
              <a:tblPr/>
              <a:tblGrid>
                <a:gridCol w="396778"/>
                <a:gridCol w="1422700"/>
                <a:gridCol w="1422700"/>
                <a:gridCol w="1422700"/>
                <a:gridCol w="1422700"/>
                <a:gridCol w="741269"/>
                <a:gridCol w="774963"/>
                <a:gridCol w="640187"/>
              </a:tblGrid>
              <a:tr h="341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MODEL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ROUTE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JOB NUMBER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ACCUM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GAYA MOTOR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MGL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D" sz="950" b="0" i="0" dirty="0">
                          <a:effectLst/>
                          <a:latin typeface="Bahnschrift" panose="020B0502040204020203" pitchFamily="34" charset="0"/>
                        </a:rPr>
                        <a:t>NZ-076</a:t>
                      </a:r>
                      <a:endParaRPr lang="en-US" sz="950" b="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6.876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6.300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-576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D30D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ISA - IFPD</a:t>
                      </a: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D" sz="950" b="0" i="0" dirty="0">
                          <a:effectLst/>
                          <a:latin typeface="Bahnschrift" panose="020B0502040204020203" pitchFamily="34" charset="0"/>
                        </a:rPr>
                        <a:t>AA-0247</a:t>
                      </a:r>
                      <a:endParaRPr lang="en-US" sz="950" b="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6.400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6.000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-400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HMMI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SU2ID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S/A - IFPD</a:t>
                      </a: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65181-I7000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1.295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912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-383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HMMI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SU2ID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S/A - IFPD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66700-I7500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1.131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768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-363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MKM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MGL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ATDAF10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1.920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1.560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-360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MKM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MGL –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ATDAF4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1.920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1.560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-360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MKM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MGL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ATDAF5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1.920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1.560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-360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8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MKM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WSS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ATDAF7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1.920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1.560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-360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MKM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WSS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ATDAF6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1.920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1.560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-360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HMMI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SU2ID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S/A - IFPD</a:t>
                      </a: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65171-I7000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1.295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936</a:t>
                      </a: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-359</a:t>
                      </a: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10298099" y="29210"/>
            <a:ext cx="360000" cy="360000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id-ID" b="1">
                <a:solidFill>
                  <a:schemeClr val="bg1"/>
                </a:solidFill>
                <a:latin typeface="Bahnschrift" panose="020B0502040204020203" pitchFamily="34" charset="0"/>
              </a:rPr>
            </a:fld>
            <a:endParaRPr lang="id-ID" b="1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0983456" y="1187593"/>
            <a:ext cx="1663751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—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416095" y="542489"/>
            <a:ext cx="460866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ACCUMULATION BY CUSTOMER &amp; MODEL 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0790072" y="2110245"/>
            <a:ext cx="419283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GAP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10885951" y="2401881"/>
          <a:ext cx="4135673" cy="3679770"/>
        </p:xfrm>
        <a:graphic>
          <a:graphicData uri="http://schemas.openxmlformats.org/drawingml/2006/table">
            <a:tbl>
              <a:tblPr/>
              <a:tblGrid>
                <a:gridCol w="390617"/>
                <a:gridCol w="1501979"/>
                <a:gridCol w="771058"/>
                <a:gridCol w="806106"/>
                <a:gridCol w="665913"/>
              </a:tblGrid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| Model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820417"/>
          <a:ext cx="8229600" cy="4701540"/>
        </p:xfrm>
        <a:graphic>
          <a:graphicData uri="http://schemas.openxmlformats.org/drawingml/2006/table">
            <a:tbl>
              <a:tblPr/>
              <a:tblGrid>
                <a:gridCol w="2059514"/>
                <a:gridCol w="1464351"/>
                <a:gridCol w="1261058"/>
                <a:gridCol w="1238576"/>
                <a:gridCol w="994299"/>
                <a:gridCol w="1211802"/>
              </a:tblGrid>
              <a:tr h="361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MODEL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b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</a:b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1-7 AUG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b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</a:b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1-7 AUG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ACCUM</a:t>
                      </a:r>
                      <a:b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</a:b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1-7 AUG 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SALES ORDER ACHIEVEMENT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ADM PLANT 1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16.580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16.160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-420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97%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ADM PLANT 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D14N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25.659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25.367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-292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99%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60.813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59.711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-1.102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98%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5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D30D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39.240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38.280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-960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98%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D55L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75.962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74.142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-1.820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98%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D74A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17.704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16.786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-918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95%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D26A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9.352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9.464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112</a:t>
                      </a: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101%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TMMIN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D26A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23.834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23.856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22</a:t>
                      </a: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100%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D03B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2.800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2.840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40</a:t>
                      </a: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101%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MMKI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34.764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34.764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100%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HMMI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SU2ID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17.218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15.612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-1.606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91%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KS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2.553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2.616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63</a:t>
                      </a: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102%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MKM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11.340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10.860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-480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96%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113.100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111.300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-1.800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98%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HPM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2MD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180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-180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0%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SIM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YL0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546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428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711E9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-118</a:t>
                      </a: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78%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TOTAL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451.465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442.366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98%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091474" y="560657"/>
            <a:ext cx="3272862" cy="2743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1-7 AGUSTUS 2026 </a:t>
            </a:r>
            <a:endParaRPr lang="en-US" sz="14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2264"/>
          <a:stretch>
            <a:fillRect/>
          </a:stretch>
        </p:blipFill>
        <p:spPr>
          <a:xfrm>
            <a:off x="289015" y="1054734"/>
            <a:ext cx="8565969" cy="4146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Shape 4"/>
          <p:cNvSpPr/>
          <p:nvPr/>
        </p:nvSpPr>
        <p:spPr>
          <a:xfrm>
            <a:off x="604712" y="6299824"/>
            <a:ext cx="7944928" cy="296118"/>
          </a:xfrm>
          <a:prstGeom prst="roundRect">
            <a:avLst>
              <a:gd name="adj" fmla="val 11765"/>
            </a:avLst>
          </a:prstGeom>
          <a:solidFill>
            <a:srgbClr val="141B47"/>
          </a:solidFill>
          <a:ln w="12700">
            <a:solidFill>
              <a:srgbClr val="3E4A8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4" name="Text 5"/>
          <p:cNvSpPr/>
          <p:nvPr/>
        </p:nvSpPr>
        <p:spPr>
          <a:xfrm>
            <a:off x="2139818" y="6173563"/>
            <a:ext cx="744837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 http://192.168.10.67/mims/mkt/report/mdfo-analisis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9015" y="2346385"/>
            <a:ext cx="680624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/>
          <p:cNvSpPr/>
          <p:nvPr/>
        </p:nvSpPr>
        <p:spPr>
          <a:xfrm>
            <a:off x="406909" y="3749616"/>
            <a:ext cx="680624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/>
          <p:cNvSpPr/>
          <p:nvPr/>
        </p:nvSpPr>
        <p:spPr>
          <a:xfrm>
            <a:off x="1459194" y="1609906"/>
            <a:ext cx="1611810" cy="262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907533" y="2184241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45" name="Slide Number Placeholder 68"/>
          <p:cNvSpPr>
            <a:spLocks noGrp="1" noChangeAspect="1"/>
          </p:cNvSpPr>
          <p:nvPr/>
        </p:nvSpPr>
        <p:spPr>
          <a:xfrm>
            <a:off x="1031736" y="3611913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43089" y="2691517"/>
            <a:ext cx="937053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Slide Number Placeholder 68"/>
          <p:cNvSpPr>
            <a:spLocks noGrp="1" noChangeAspect="1"/>
          </p:cNvSpPr>
          <p:nvPr/>
        </p:nvSpPr>
        <p:spPr>
          <a:xfrm>
            <a:off x="1210787" y="2518913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51" name="Slide Number Placeholder 68"/>
          <p:cNvSpPr>
            <a:spLocks noGrp="1" noChangeAspect="1"/>
          </p:cNvSpPr>
          <p:nvPr/>
        </p:nvSpPr>
        <p:spPr>
          <a:xfrm>
            <a:off x="3009761" y="1492512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3" name="Slide Number Placeholder 68"/>
          <p:cNvSpPr>
            <a:spLocks noGrp="1" noChangeAspect="1"/>
          </p:cNvSpPr>
          <p:nvPr/>
        </p:nvSpPr>
        <p:spPr>
          <a:xfrm>
            <a:off x="907532" y="5327254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5" name="Slide Number Placeholder 68"/>
          <p:cNvSpPr>
            <a:spLocks noGrp="1" noChangeAspect="1"/>
          </p:cNvSpPr>
          <p:nvPr/>
        </p:nvSpPr>
        <p:spPr>
          <a:xfrm>
            <a:off x="3153629" y="5376108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7" name="Slide Number Placeholder 68"/>
          <p:cNvSpPr>
            <a:spLocks noGrp="1" noChangeAspect="1"/>
          </p:cNvSpPr>
          <p:nvPr/>
        </p:nvSpPr>
        <p:spPr>
          <a:xfrm>
            <a:off x="907532" y="5701189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70" name="Slide Number Placeholder 68"/>
          <p:cNvSpPr>
            <a:spLocks noGrp="1" noChangeAspect="1"/>
          </p:cNvSpPr>
          <p:nvPr/>
        </p:nvSpPr>
        <p:spPr>
          <a:xfrm>
            <a:off x="3153632" y="5730478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72" name="Text 13"/>
          <p:cNvSpPr/>
          <p:nvPr/>
        </p:nvSpPr>
        <p:spPr>
          <a:xfrm>
            <a:off x="1210787" y="5319122"/>
            <a:ext cx="1029493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1210787" y="5669350"/>
            <a:ext cx="1029493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3415874" y="5365566"/>
            <a:ext cx="136186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MDFO ANALYSIS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3432516" y="5715794"/>
            <a:ext cx="21834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PILIH BULAN &amp; LOAD DATA</a:t>
            </a:r>
            <a:endParaRPr lang="en-US" sz="12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2264"/>
          <a:stretch>
            <a:fillRect/>
          </a:stretch>
        </p:blipFill>
        <p:spPr>
          <a:xfrm>
            <a:off x="289015" y="1054734"/>
            <a:ext cx="8565969" cy="4146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Shape 4"/>
          <p:cNvSpPr/>
          <p:nvPr/>
        </p:nvSpPr>
        <p:spPr>
          <a:xfrm>
            <a:off x="604712" y="6299824"/>
            <a:ext cx="7944928" cy="296118"/>
          </a:xfrm>
          <a:prstGeom prst="roundRect">
            <a:avLst>
              <a:gd name="adj" fmla="val 11765"/>
            </a:avLst>
          </a:prstGeom>
          <a:solidFill>
            <a:srgbClr val="141B47"/>
          </a:solidFill>
          <a:ln w="12700">
            <a:solidFill>
              <a:srgbClr val="3E4A8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4" name="Text 5"/>
          <p:cNvSpPr/>
          <p:nvPr/>
        </p:nvSpPr>
        <p:spPr>
          <a:xfrm>
            <a:off x="2139818" y="6173563"/>
            <a:ext cx="744837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 http://192.168.10.67/mims/mkt/report/mdfo-analisis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35071" y="3493698"/>
            <a:ext cx="7246618" cy="17080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/>
          <p:cNvSpPr/>
          <p:nvPr/>
        </p:nvSpPr>
        <p:spPr>
          <a:xfrm>
            <a:off x="1535071" y="2518912"/>
            <a:ext cx="7246619" cy="9100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Slide Number Placeholder 68"/>
          <p:cNvSpPr>
            <a:spLocks noGrp="1" noChangeAspect="1"/>
          </p:cNvSpPr>
          <p:nvPr/>
        </p:nvSpPr>
        <p:spPr>
          <a:xfrm>
            <a:off x="1213369" y="2518912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68"/>
          <p:cNvSpPr>
            <a:spLocks noGrp="1" noChangeAspect="1"/>
          </p:cNvSpPr>
          <p:nvPr/>
        </p:nvSpPr>
        <p:spPr>
          <a:xfrm>
            <a:off x="1213369" y="3493698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68"/>
          <p:cNvSpPr>
            <a:spLocks noGrp="1" noChangeAspect="1"/>
          </p:cNvSpPr>
          <p:nvPr/>
        </p:nvSpPr>
        <p:spPr>
          <a:xfrm>
            <a:off x="647300" y="5453804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68"/>
          <p:cNvSpPr>
            <a:spLocks noGrp="1" noChangeAspect="1"/>
          </p:cNvSpPr>
          <p:nvPr/>
        </p:nvSpPr>
        <p:spPr>
          <a:xfrm>
            <a:off x="647300" y="5805490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895706" y="5447654"/>
            <a:ext cx="883731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895705" y="5797865"/>
            <a:ext cx="883731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</a:t>
            </a:r>
            <a:endParaRPr lang="en-US" sz="12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4" descr="Sebuah gambar berisi teks, membaca, tanda, jam&#10;&#10;Deskripsi dibuat secara otomatis"/>
          <p:cNvPicPr>
            <a:picLocks noChangeAspect="1"/>
          </p:cNvPicPr>
          <p:nvPr/>
        </p:nvPicPr>
        <p:blipFill>
          <a:blip r:embed="rId1">
            <a:lum contrast="72000"/>
          </a:blip>
          <a:stretch>
            <a:fillRect/>
          </a:stretch>
        </p:blipFill>
        <p:spPr>
          <a:xfrm>
            <a:off x="5252629" y="3569040"/>
            <a:ext cx="3171864" cy="779119"/>
          </a:xfrm>
          <a:prstGeom prst="rect">
            <a:avLst/>
          </a:prstGeom>
        </p:spPr>
      </p:pic>
      <p:pic>
        <p:nvPicPr>
          <p:cNvPr id="106" name="Picture 105"/>
          <p:cNvPicPr/>
          <p:nvPr/>
        </p:nvPicPr>
        <p:blipFill>
          <a:blip r:embed="rId2"/>
          <a:srcRect r="5472"/>
          <a:stretch>
            <a:fillRect/>
          </a:stretch>
        </p:blipFill>
        <p:spPr>
          <a:xfrm>
            <a:off x="793733" y="2100167"/>
            <a:ext cx="4458901" cy="265767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7205345" y="455358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2283</Words>
  <Application>WPS Presentation</Application>
  <PresentationFormat>On-screen Show (4:3)</PresentationFormat>
  <Paragraphs>864</Paragraphs>
  <Slides>6</Slides>
  <Notes>2</Notes>
  <HiddenSlides>4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SimSun</vt:lpstr>
      <vt:lpstr>Wingdings</vt:lpstr>
      <vt:lpstr>Arial</vt:lpstr>
      <vt:lpstr>Arial Unicode MS</vt:lpstr>
      <vt:lpstr>Calibri</vt:lpstr>
      <vt:lpstr>Arial Black</vt:lpstr>
      <vt:lpstr>Bookman Old Style</vt:lpstr>
      <vt:lpstr>Lato</vt:lpstr>
      <vt:lpstr>Bahnschrift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Calibri Light</vt:lpstr>
      <vt:lpstr>Office 2013 - 2022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DIVA</dc:creator>
  <cp:lastModifiedBy>PC MAJ TBN IT</cp:lastModifiedBy>
  <cp:revision>3550</cp:revision>
  <dcterms:created xsi:type="dcterms:W3CDTF">2023-06-15T04:05:00Z</dcterms:created>
  <dcterms:modified xsi:type="dcterms:W3CDTF">2026-08-21T12:07:47Z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1A5CF8B2894C42EF9F919BB16449B1CC_13</vt:lpwstr>
  </property>
  <property fmtid="{D5CDD505-2E9C-101B-9397-08002B2CF9AE}" pid="3" name="KSOProductBuildVer">
    <vt:lpwstr>1033-12.1.0.28032</vt:lpwstr>
  </property>
</Properties>
</file>